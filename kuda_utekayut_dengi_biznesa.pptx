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1ed008fc73c1ba2c_5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1ed008fc73c1ba2c_5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1ed008fc73c1ba2c_5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h1ed008fc73c1ba2c_5_9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1ed008fc73c1ba2c_5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h1ed008fc73c1ba2c_5_11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1ed008fc73c1ba2c_5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h1ed008fc73c1ba2c_5_15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1ed008fc73c1ba2c_5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1ed008fc73c1ba2c_5_19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1ed008fc73c1ba2c_5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1ed008fc73c1ba2c_5_2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1ed008fc73c1ba2c_5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h1ed008fc73c1ba2c_5_25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5932328" y="754380"/>
            <a:ext cx="2468946" cy="2468880"/>
          </a:xfrm>
          <a:prstGeom prst="ellipse">
            <a:avLst/>
          </a:prstGeom>
          <a:solidFill>
            <a:srgbClr val="2328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6275237" y="1097280"/>
            <a:ext cx="1783128" cy="1783080"/>
          </a:xfrm>
          <a:prstGeom prst="ellipse">
            <a:avLst/>
          </a:prstGeom>
          <a:solidFill>
            <a:srgbClr val="1214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6686728" y="1508760"/>
            <a:ext cx="960146" cy="960120"/>
          </a:xfrm>
          <a:prstGeom prst="ellipse">
            <a:avLst/>
          </a:prstGeom>
          <a:solidFill>
            <a:srgbClr val="FF91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6926765" y="1748790"/>
            <a:ext cx="480073" cy="480060"/>
          </a:xfrm>
          <a:prstGeom prst="ellipse">
            <a:avLst/>
          </a:prstGeom>
          <a:solidFill>
            <a:srgbClr val="1214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5781451" y="2804915"/>
            <a:ext cx="150900" cy="246900"/>
          </a:xfrm>
          <a:prstGeom prst="ellipse">
            <a:avLst/>
          </a:prstGeom>
          <a:solidFill>
            <a:srgbClr val="FF91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6370605" y="3636125"/>
            <a:ext cx="102900" cy="171600"/>
          </a:xfrm>
          <a:prstGeom prst="ellipse">
            <a:avLst/>
          </a:prstGeom>
          <a:solidFill>
            <a:srgbClr val="FF657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6969925" y="2667688"/>
            <a:ext cx="123300" cy="219600"/>
          </a:xfrm>
          <a:prstGeom prst="ellipse">
            <a:avLst/>
          </a:prstGeom>
          <a:solidFill>
            <a:srgbClr val="FF91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7125701" y="3250710"/>
            <a:ext cx="82200" cy="137100"/>
          </a:xfrm>
          <a:prstGeom prst="ellipse">
            <a:avLst/>
          </a:prstGeom>
          <a:solidFill>
            <a:srgbClr val="FF657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7969206" y="3577085"/>
            <a:ext cx="123300" cy="192000"/>
          </a:xfrm>
          <a:prstGeom prst="ellipse">
            <a:avLst/>
          </a:prstGeom>
          <a:solidFill>
            <a:srgbClr val="FF91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562371" y="493776"/>
            <a:ext cx="35662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БИЗНЕС-РАЗБОР / 2026</a:t>
            </a:r>
            <a:endParaRPr sz="1100"/>
          </a:p>
        </p:txBody>
      </p:sp>
      <p:sp>
        <p:nvSpPr>
          <p:cNvPr id="139" name="Google Shape;139;p25"/>
          <p:cNvSpPr txBox="1"/>
          <p:nvPr/>
        </p:nvSpPr>
        <p:spPr>
          <a:xfrm>
            <a:off x="562371" y="1110996"/>
            <a:ext cx="4938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Куда утекают</a:t>
            </a:r>
            <a:br>
              <a:rPr b="1" i="0" lang="ru" sz="2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ru" sz="2700">
                <a:solidFill>
                  <a:srgbClr val="F2F4F7"/>
                </a:solidFill>
              </a:rPr>
              <a:t>д</a:t>
            </a:r>
            <a:r>
              <a:rPr b="1" i="0" lang="ru" sz="2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еньги бизнеса</a:t>
            </a:r>
            <a:endParaRPr sz="1100"/>
          </a:p>
        </p:txBody>
      </p:sp>
      <p:sp>
        <p:nvSpPr>
          <p:cNvPr id="140" name="Google Shape;140;p25"/>
          <p:cNvSpPr txBox="1"/>
          <p:nvPr/>
        </p:nvSpPr>
        <p:spPr>
          <a:xfrm>
            <a:off x="589804" y="2503170"/>
            <a:ext cx="45264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4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5 зон потерь, которые можно найти</a:t>
            </a:r>
            <a:br>
              <a:rPr b="0" i="0" lang="ru" sz="14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14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без сокращения команды и роста цен</a:t>
            </a:r>
            <a:endParaRPr sz="1100"/>
          </a:p>
        </p:txBody>
      </p:sp>
      <p:sp>
        <p:nvSpPr>
          <p:cNvPr id="141" name="Google Shape;141;p25"/>
          <p:cNvSpPr/>
          <p:nvPr/>
        </p:nvSpPr>
        <p:spPr>
          <a:xfrm>
            <a:off x="589804" y="3463290"/>
            <a:ext cx="480073" cy="37719"/>
          </a:xfrm>
          <a:prstGeom prst="rect">
            <a:avLst/>
          </a:prstGeom>
          <a:solidFill>
            <a:srgbClr val="FF91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589804" y="3689604"/>
            <a:ext cx="3977746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Практический аудит для малого бизнеса</a:t>
            </a:r>
            <a:endParaRPr sz="1100"/>
          </a:p>
        </p:txBody>
      </p:sp>
      <p:sp>
        <p:nvSpPr>
          <p:cNvPr id="143" name="Google Shape;143;p25"/>
          <p:cNvSpPr txBox="1"/>
          <p:nvPr/>
        </p:nvSpPr>
        <p:spPr>
          <a:xfrm>
            <a:off x="589804" y="4745736"/>
            <a:ext cx="5486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4" name="Google Shape;144;p25"/>
          <p:cNvSpPr txBox="1"/>
          <p:nvPr/>
        </p:nvSpPr>
        <p:spPr>
          <a:xfrm>
            <a:off x="8092656" y="4745736"/>
            <a:ext cx="4800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01 / 07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/>
        </p:nvSpPr>
        <p:spPr>
          <a:xfrm>
            <a:off x="493789" y="288036"/>
            <a:ext cx="60352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01 / СУТЬ ПРОБЛЕМЫ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8229819" y="274320"/>
            <a:ext cx="411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02 / 07</a:t>
            </a:r>
            <a:endParaRPr sz="1100"/>
          </a:p>
        </p:txBody>
      </p:sp>
      <p:sp>
        <p:nvSpPr>
          <p:cNvPr id="151" name="Google Shape;151;p26"/>
          <p:cNvSpPr/>
          <p:nvPr/>
        </p:nvSpPr>
        <p:spPr>
          <a:xfrm>
            <a:off x="493789" y="562356"/>
            <a:ext cx="8147521" cy="8229"/>
          </a:xfrm>
          <a:prstGeom prst="rect">
            <a:avLst/>
          </a:prstGeom>
          <a:solidFill>
            <a:srgbClr val="373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493789" y="768096"/>
            <a:ext cx="809265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Прибыль теряется не в одной большой ошибке</a:t>
            </a:r>
            <a:endParaRPr sz="1100"/>
          </a:p>
        </p:txBody>
      </p:sp>
      <p:sp>
        <p:nvSpPr>
          <p:cNvPr id="153" name="Google Shape;153;p26"/>
          <p:cNvSpPr txBox="1"/>
          <p:nvPr/>
        </p:nvSpPr>
        <p:spPr>
          <a:xfrm>
            <a:off x="507506" y="1200150"/>
            <a:ext cx="78869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Обычно деньги уходят через несколько небольших процессов, которые никто не измеряет.</a:t>
            </a:r>
            <a:endParaRPr sz="1100"/>
          </a:p>
        </p:txBody>
      </p:sp>
      <p:sp>
        <p:nvSpPr>
          <p:cNvPr id="154" name="Google Shape;154;p26"/>
          <p:cNvSpPr/>
          <p:nvPr/>
        </p:nvSpPr>
        <p:spPr>
          <a:xfrm>
            <a:off x="493789" y="1611630"/>
            <a:ext cx="2551244" cy="168021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665244" y="1769364"/>
            <a:ext cx="445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156" name="Google Shape;156;p26"/>
          <p:cNvSpPr txBox="1"/>
          <p:nvPr/>
        </p:nvSpPr>
        <p:spPr>
          <a:xfrm>
            <a:off x="665244" y="2091690"/>
            <a:ext cx="2194619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Заявки без ответа</a:t>
            </a:r>
            <a:endParaRPr sz="1100"/>
          </a:p>
        </p:txBody>
      </p:sp>
      <p:sp>
        <p:nvSpPr>
          <p:cNvPr id="157" name="Google Shape;157;p26"/>
          <p:cNvSpPr txBox="1"/>
          <p:nvPr/>
        </p:nvSpPr>
        <p:spPr>
          <a:xfrm>
            <a:off x="665244" y="2503170"/>
            <a:ext cx="2160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Клиент уже проявил интерес,</a:t>
            </a:r>
            <a:br>
              <a:rPr b="0" i="0" lang="ru" sz="9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9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но компания не довела его до сделки.</a:t>
            </a:r>
            <a:endParaRPr sz="1100"/>
          </a:p>
        </p:txBody>
      </p:sp>
      <p:sp>
        <p:nvSpPr>
          <p:cNvPr id="158" name="Google Shape;158;p26"/>
          <p:cNvSpPr/>
          <p:nvPr/>
        </p:nvSpPr>
        <p:spPr>
          <a:xfrm>
            <a:off x="3257637" y="1611630"/>
            <a:ext cx="2551244" cy="168021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3429091" y="1769364"/>
            <a:ext cx="445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160" name="Google Shape;160;p26"/>
          <p:cNvSpPr txBox="1"/>
          <p:nvPr/>
        </p:nvSpPr>
        <p:spPr>
          <a:xfrm>
            <a:off x="3429091" y="2091690"/>
            <a:ext cx="2194619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Ручная рутина</a:t>
            </a:r>
            <a:endParaRPr sz="1100"/>
          </a:p>
        </p:txBody>
      </p:sp>
      <p:sp>
        <p:nvSpPr>
          <p:cNvPr id="161" name="Google Shape;161;p26"/>
          <p:cNvSpPr txBox="1"/>
          <p:nvPr/>
        </p:nvSpPr>
        <p:spPr>
          <a:xfrm>
            <a:off x="3429091" y="2503170"/>
            <a:ext cx="2160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Сотрудники тратят время на копирование,</a:t>
            </a:r>
            <a:br>
              <a:rPr b="0" i="0" lang="ru" sz="9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9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поиск данных и повторные действия.</a:t>
            </a:r>
            <a:endParaRPr sz="1100"/>
          </a:p>
        </p:txBody>
      </p:sp>
      <p:sp>
        <p:nvSpPr>
          <p:cNvPr id="162" name="Google Shape;162;p26"/>
          <p:cNvSpPr/>
          <p:nvPr/>
        </p:nvSpPr>
        <p:spPr>
          <a:xfrm>
            <a:off x="6021485" y="1611630"/>
            <a:ext cx="2551244" cy="168021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6192939" y="1769364"/>
            <a:ext cx="445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FF657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164" name="Google Shape;164;p26"/>
          <p:cNvSpPr txBox="1"/>
          <p:nvPr/>
        </p:nvSpPr>
        <p:spPr>
          <a:xfrm>
            <a:off x="6192939" y="2091690"/>
            <a:ext cx="2194619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Невидимые расходы</a:t>
            </a:r>
            <a:endParaRPr sz="1100"/>
          </a:p>
        </p:txBody>
      </p:sp>
      <p:sp>
        <p:nvSpPr>
          <p:cNvPr id="165" name="Google Shape;165;p26"/>
          <p:cNvSpPr txBox="1"/>
          <p:nvPr/>
        </p:nvSpPr>
        <p:spPr>
          <a:xfrm>
            <a:off x="6192939" y="2503170"/>
            <a:ext cx="2160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Подписки, срочные закупки,</a:t>
            </a:r>
            <a:br>
              <a:rPr b="0" i="0" lang="ru" sz="9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9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ошибки и переделки накапливаются.</a:t>
            </a:r>
            <a:endParaRPr sz="1100"/>
          </a:p>
        </p:txBody>
      </p:sp>
      <p:sp>
        <p:nvSpPr>
          <p:cNvPr id="166" name="Google Shape;166;p26"/>
          <p:cNvSpPr/>
          <p:nvPr/>
        </p:nvSpPr>
        <p:spPr>
          <a:xfrm>
            <a:off x="493789" y="3579876"/>
            <a:ext cx="8078939" cy="720090"/>
          </a:xfrm>
          <a:prstGeom prst="roundRect">
            <a:avLst>
              <a:gd fmla="val 16667" name="adj"/>
            </a:avLst>
          </a:prstGeom>
          <a:solidFill>
            <a:srgbClr val="2328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672102" y="3785616"/>
            <a:ext cx="76125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Задача аудита: </a:t>
            </a:r>
            <a:r>
              <a:rPr b="0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не урезать всё подряд, а найти потери, которые можно устранить без ущерба для продаж и качества.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/>
        </p:nvSpPr>
        <p:spPr>
          <a:xfrm>
            <a:off x="493789" y="288036"/>
            <a:ext cx="60352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02 / БАЗОВАЯ МОДЕЛЬ</a:t>
            </a:r>
            <a:endParaRPr sz="1100"/>
          </a:p>
        </p:txBody>
      </p:sp>
      <p:sp>
        <p:nvSpPr>
          <p:cNvPr id="173" name="Google Shape;173;p27"/>
          <p:cNvSpPr txBox="1"/>
          <p:nvPr/>
        </p:nvSpPr>
        <p:spPr>
          <a:xfrm>
            <a:off x="8229819" y="274320"/>
            <a:ext cx="411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03 / 07</a:t>
            </a:r>
            <a:endParaRPr sz="1100"/>
          </a:p>
        </p:txBody>
      </p:sp>
      <p:sp>
        <p:nvSpPr>
          <p:cNvPr id="174" name="Google Shape;174;p27"/>
          <p:cNvSpPr/>
          <p:nvPr/>
        </p:nvSpPr>
        <p:spPr>
          <a:xfrm>
            <a:off x="493789" y="562356"/>
            <a:ext cx="8147521" cy="8229"/>
          </a:xfrm>
          <a:prstGeom prst="rect">
            <a:avLst/>
          </a:prstGeom>
          <a:solidFill>
            <a:srgbClr val="373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493789" y="768096"/>
            <a:ext cx="809265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Сначала — увидеть экономику целиком</a:t>
            </a:r>
            <a:endParaRPr sz="1100"/>
          </a:p>
        </p:txBody>
      </p:sp>
      <p:sp>
        <p:nvSpPr>
          <p:cNvPr id="176" name="Google Shape;176;p27"/>
          <p:cNvSpPr txBox="1"/>
          <p:nvPr/>
        </p:nvSpPr>
        <p:spPr>
          <a:xfrm>
            <a:off x="507506" y="1200150"/>
            <a:ext cx="788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A0A8B4"/>
                </a:solidFill>
              </a:rPr>
              <a:t>Н</a:t>
            </a:r>
            <a:r>
              <a:rPr b="0" i="0" lang="ru" sz="10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ебольшая компания услуг, выручка 3 млн ₽ в месяц.</a:t>
            </a:r>
            <a:endParaRPr sz="1100"/>
          </a:p>
        </p:txBody>
      </p:sp>
      <p:sp>
        <p:nvSpPr>
          <p:cNvPr id="177" name="Google Shape;177;p27"/>
          <p:cNvSpPr txBox="1"/>
          <p:nvPr/>
        </p:nvSpPr>
        <p:spPr>
          <a:xfrm>
            <a:off x="562371" y="1577333"/>
            <a:ext cx="3634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КУДА УХОДЯТ 3 000 000 ₽ ВЫРУЧКИ</a:t>
            </a:r>
            <a:endParaRPr sz="1100"/>
          </a:p>
        </p:txBody>
      </p:sp>
      <p:sp>
        <p:nvSpPr>
          <p:cNvPr id="178" name="Google Shape;178;p27"/>
          <p:cNvSpPr/>
          <p:nvPr/>
        </p:nvSpPr>
        <p:spPr>
          <a:xfrm>
            <a:off x="562371" y="1865376"/>
            <a:ext cx="2175758" cy="377190"/>
          </a:xfrm>
          <a:prstGeom prst="rect">
            <a:avLst/>
          </a:prstGeom>
          <a:solidFill>
            <a:srgbClr val="42D4B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2738129" y="1865376"/>
            <a:ext cx="967004" cy="377190"/>
          </a:xfrm>
          <a:prstGeom prst="rect">
            <a:avLst/>
          </a:prstGeom>
          <a:solidFill>
            <a:srgbClr val="FF91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3705133" y="1865376"/>
            <a:ext cx="483502" cy="377190"/>
          </a:xfrm>
          <a:prstGeom prst="rect">
            <a:avLst/>
          </a:prstGeom>
          <a:solidFill>
            <a:srgbClr val="FFCC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4188635" y="1865376"/>
            <a:ext cx="386801" cy="377190"/>
          </a:xfrm>
          <a:prstGeom prst="rect">
            <a:avLst/>
          </a:prstGeom>
          <a:solidFill>
            <a:srgbClr val="FF657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4575436" y="1865376"/>
            <a:ext cx="435151" cy="377190"/>
          </a:xfrm>
          <a:prstGeom prst="rect">
            <a:avLst/>
          </a:prstGeom>
          <a:solidFill>
            <a:srgbClr val="7A8BA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5010588" y="1865376"/>
            <a:ext cx="386801" cy="377190"/>
          </a:xfrm>
          <a:prstGeom prst="rect">
            <a:avLst/>
          </a:prstGeom>
          <a:solidFill>
            <a:srgbClr val="F2F4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582946" y="2578608"/>
            <a:ext cx="89156" cy="89154"/>
          </a:xfrm>
          <a:prstGeom prst="ellipse">
            <a:avLst/>
          </a:prstGeom>
          <a:solidFill>
            <a:srgbClr val="42D4B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747541" y="2537460"/>
            <a:ext cx="1954582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100"/>
          </a:p>
        </p:txBody>
      </p:sp>
      <p:sp>
        <p:nvSpPr>
          <p:cNvPr id="186" name="Google Shape;186;p27"/>
          <p:cNvSpPr txBox="1"/>
          <p:nvPr/>
        </p:nvSpPr>
        <p:spPr>
          <a:xfrm>
            <a:off x="1954582" y="2537460"/>
            <a:ext cx="720109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1 350 тыс. ₽</a:t>
            </a:r>
            <a:endParaRPr sz="1100"/>
          </a:p>
        </p:txBody>
      </p:sp>
      <p:sp>
        <p:nvSpPr>
          <p:cNvPr id="187" name="Google Shape;187;p27"/>
          <p:cNvSpPr/>
          <p:nvPr/>
        </p:nvSpPr>
        <p:spPr>
          <a:xfrm>
            <a:off x="2846145" y="2578608"/>
            <a:ext cx="89156" cy="89154"/>
          </a:xfrm>
          <a:prstGeom prst="ellipse">
            <a:avLst/>
          </a:prstGeom>
          <a:solidFill>
            <a:srgbClr val="FF91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3010742" y="2537460"/>
            <a:ext cx="1954582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Подрядчики и материалы</a:t>
            </a:r>
            <a:endParaRPr sz="1100"/>
          </a:p>
        </p:txBody>
      </p:sp>
      <p:sp>
        <p:nvSpPr>
          <p:cNvPr id="189" name="Google Shape;189;p27"/>
          <p:cNvSpPr txBox="1"/>
          <p:nvPr/>
        </p:nvSpPr>
        <p:spPr>
          <a:xfrm>
            <a:off x="4217782" y="2537460"/>
            <a:ext cx="720109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600 тыс. ₽</a:t>
            </a:r>
            <a:endParaRPr sz="1100"/>
          </a:p>
        </p:txBody>
      </p:sp>
      <p:sp>
        <p:nvSpPr>
          <p:cNvPr id="190" name="Google Shape;190;p27"/>
          <p:cNvSpPr/>
          <p:nvPr/>
        </p:nvSpPr>
        <p:spPr>
          <a:xfrm>
            <a:off x="582946" y="2955797"/>
            <a:ext cx="89156" cy="89154"/>
          </a:xfrm>
          <a:prstGeom prst="ellipse">
            <a:avLst/>
          </a:prstGeom>
          <a:solidFill>
            <a:srgbClr val="FFCC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747541" y="2914650"/>
            <a:ext cx="1954582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Маркетинг и продажи</a:t>
            </a:r>
            <a:endParaRPr sz="1100"/>
          </a:p>
        </p:txBody>
      </p:sp>
      <p:sp>
        <p:nvSpPr>
          <p:cNvPr id="192" name="Google Shape;192;p27"/>
          <p:cNvSpPr txBox="1"/>
          <p:nvPr/>
        </p:nvSpPr>
        <p:spPr>
          <a:xfrm>
            <a:off x="1954582" y="2914650"/>
            <a:ext cx="720109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300 тыс. ₽</a:t>
            </a:r>
            <a:endParaRPr sz="1100"/>
          </a:p>
        </p:txBody>
      </p:sp>
      <p:sp>
        <p:nvSpPr>
          <p:cNvPr id="193" name="Google Shape;193;p27"/>
          <p:cNvSpPr/>
          <p:nvPr/>
        </p:nvSpPr>
        <p:spPr>
          <a:xfrm>
            <a:off x="2846145" y="2955797"/>
            <a:ext cx="89156" cy="89154"/>
          </a:xfrm>
          <a:prstGeom prst="ellipse">
            <a:avLst/>
          </a:prstGeom>
          <a:solidFill>
            <a:srgbClr val="FF657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3010742" y="2914650"/>
            <a:ext cx="1954582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Аренда и сервисы</a:t>
            </a:r>
            <a:endParaRPr sz="1100"/>
          </a:p>
        </p:txBody>
      </p:sp>
      <p:sp>
        <p:nvSpPr>
          <p:cNvPr id="195" name="Google Shape;195;p27"/>
          <p:cNvSpPr txBox="1"/>
          <p:nvPr/>
        </p:nvSpPr>
        <p:spPr>
          <a:xfrm>
            <a:off x="4217782" y="2914650"/>
            <a:ext cx="720109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240 тыс. ₽</a:t>
            </a:r>
            <a:endParaRPr sz="1100"/>
          </a:p>
        </p:txBody>
      </p:sp>
      <p:sp>
        <p:nvSpPr>
          <p:cNvPr id="196" name="Google Shape;196;p27"/>
          <p:cNvSpPr/>
          <p:nvPr/>
        </p:nvSpPr>
        <p:spPr>
          <a:xfrm>
            <a:off x="582946" y="3332988"/>
            <a:ext cx="89156" cy="89154"/>
          </a:xfrm>
          <a:prstGeom prst="ellipse">
            <a:avLst/>
          </a:prstGeom>
          <a:solidFill>
            <a:srgbClr val="7A8BA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747541" y="3291840"/>
            <a:ext cx="1954582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Налоги и прочее</a:t>
            </a:r>
            <a:endParaRPr sz="1100"/>
          </a:p>
        </p:txBody>
      </p:sp>
      <p:sp>
        <p:nvSpPr>
          <p:cNvPr id="198" name="Google Shape;198;p27"/>
          <p:cNvSpPr txBox="1"/>
          <p:nvPr/>
        </p:nvSpPr>
        <p:spPr>
          <a:xfrm>
            <a:off x="1954582" y="3291840"/>
            <a:ext cx="720109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270 тыс. ₽</a:t>
            </a:r>
            <a:endParaRPr sz="1100"/>
          </a:p>
        </p:txBody>
      </p:sp>
      <p:sp>
        <p:nvSpPr>
          <p:cNvPr id="199" name="Google Shape;199;p27"/>
          <p:cNvSpPr/>
          <p:nvPr/>
        </p:nvSpPr>
        <p:spPr>
          <a:xfrm>
            <a:off x="2846145" y="3332988"/>
            <a:ext cx="89156" cy="89154"/>
          </a:xfrm>
          <a:prstGeom prst="ellipse">
            <a:avLst/>
          </a:prstGeom>
          <a:solidFill>
            <a:srgbClr val="F2F4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3010742" y="3291840"/>
            <a:ext cx="1954582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Операционная прибыль</a:t>
            </a:r>
            <a:endParaRPr sz="1100"/>
          </a:p>
        </p:txBody>
      </p:sp>
      <p:sp>
        <p:nvSpPr>
          <p:cNvPr id="201" name="Google Shape;201;p27"/>
          <p:cNvSpPr txBox="1"/>
          <p:nvPr/>
        </p:nvSpPr>
        <p:spPr>
          <a:xfrm>
            <a:off x="4217782" y="3291840"/>
            <a:ext cx="720109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240 тыс. ₽</a:t>
            </a:r>
            <a:endParaRPr sz="1100"/>
          </a:p>
        </p:txBody>
      </p:sp>
      <p:sp>
        <p:nvSpPr>
          <p:cNvPr id="202" name="Google Shape;202;p27"/>
          <p:cNvSpPr/>
          <p:nvPr/>
        </p:nvSpPr>
        <p:spPr>
          <a:xfrm>
            <a:off x="5726583" y="1495044"/>
            <a:ext cx="2846146" cy="257175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5966618" y="1714500"/>
            <a:ext cx="23317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ОПЕРАЦИОННАЯ МАРЖА</a:t>
            </a:r>
            <a:endParaRPr sz="1100"/>
          </a:p>
        </p:txBody>
      </p:sp>
      <p:sp>
        <p:nvSpPr>
          <p:cNvPr id="204" name="Google Shape;204;p27"/>
          <p:cNvSpPr txBox="1"/>
          <p:nvPr/>
        </p:nvSpPr>
        <p:spPr>
          <a:xfrm>
            <a:off x="5966618" y="2057400"/>
            <a:ext cx="21946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30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  <a:endParaRPr sz="1100"/>
          </a:p>
        </p:txBody>
      </p:sp>
      <p:sp>
        <p:nvSpPr>
          <p:cNvPr id="205" name="Google Shape;205;p27"/>
          <p:cNvSpPr txBox="1"/>
          <p:nvPr/>
        </p:nvSpPr>
        <p:spPr>
          <a:xfrm>
            <a:off x="5966618" y="2743200"/>
            <a:ext cx="2194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240 тыс. ₽ прибыли</a:t>
            </a:r>
            <a:endParaRPr sz="1100"/>
          </a:p>
        </p:txBody>
      </p:sp>
      <p:sp>
        <p:nvSpPr>
          <p:cNvPr id="206" name="Google Shape;206;p27"/>
          <p:cNvSpPr/>
          <p:nvPr/>
        </p:nvSpPr>
        <p:spPr>
          <a:xfrm>
            <a:off x="5966618" y="3429000"/>
            <a:ext cx="2297491" cy="13716"/>
          </a:xfrm>
          <a:prstGeom prst="rect">
            <a:avLst/>
          </a:prstGeom>
          <a:solidFill>
            <a:srgbClr val="373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5966618" y="3600450"/>
            <a:ext cx="22632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Каждый 1% выручки = 30 000 ₽</a:t>
            </a:r>
            <a:endParaRPr sz="1100"/>
          </a:p>
        </p:txBody>
      </p:sp>
      <p:sp>
        <p:nvSpPr>
          <p:cNvPr id="208" name="Google Shape;208;p27"/>
          <p:cNvSpPr txBox="1"/>
          <p:nvPr/>
        </p:nvSpPr>
        <p:spPr>
          <a:xfrm>
            <a:off x="576087" y="4238244"/>
            <a:ext cx="7749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800">
                <a:solidFill>
                  <a:srgbClr val="A0A8B4"/>
                </a:solidFill>
              </a:rPr>
              <a:t>*</a:t>
            </a:r>
            <a:r>
              <a:rPr b="0" i="1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Реальные доли зависят от бизнеса.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/>
        </p:nvSpPr>
        <p:spPr>
          <a:xfrm>
            <a:off x="493789" y="288036"/>
            <a:ext cx="60352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03 / КАРТА ПОТЕРЬ</a:t>
            </a:r>
            <a:endParaRPr sz="1100"/>
          </a:p>
        </p:txBody>
      </p:sp>
      <p:sp>
        <p:nvSpPr>
          <p:cNvPr id="214" name="Google Shape;214;p28"/>
          <p:cNvSpPr txBox="1"/>
          <p:nvPr/>
        </p:nvSpPr>
        <p:spPr>
          <a:xfrm>
            <a:off x="8229819" y="274320"/>
            <a:ext cx="411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04 / 07</a:t>
            </a:r>
            <a:endParaRPr sz="1100"/>
          </a:p>
        </p:txBody>
      </p:sp>
      <p:sp>
        <p:nvSpPr>
          <p:cNvPr id="215" name="Google Shape;215;p28"/>
          <p:cNvSpPr/>
          <p:nvPr/>
        </p:nvSpPr>
        <p:spPr>
          <a:xfrm>
            <a:off x="493789" y="562356"/>
            <a:ext cx="8147521" cy="8229"/>
          </a:xfrm>
          <a:prstGeom prst="rect">
            <a:avLst/>
          </a:prstGeom>
          <a:solidFill>
            <a:srgbClr val="373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493789" y="768096"/>
            <a:ext cx="809265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Пять мест, где стоит искать утечки</a:t>
            </a:r>
            <a:endParaRPr sz="1100"/>
          </a:p>
        </p:txBody>
      </p:sp>
      <p:sp>
        <p:nvSpPr>
          <p:cNvPr id="217" name="Google Shape;217;p28"/>
          <p:cNvSpPr txBox="1"/>
          <p:nvPr/>
        </p:nvSpPr>
        <p:spPr>
          <a:xfrm>
            <a:off x="507506" y="1200150"/>
            <a:ext cx="78869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Начните с измеримых процессов — не с интуитивного «надо экономить».</a:t>
            </a:r>
            <a:endParaRPr sz="1100"/>
          </a:p>
        </p:txBody>
      </p:sp>
      <p:sp>
        <p:nvSpPr>
          <p:cNvPr id="218" name="Google Shape;218;p28"/>
          <p:cNvSpPr/>
          <p:nvPr/>
        </p:nvSpPr>
        <p:spPr>
          <a:xfrm>
            <a:off x="534938" y="1405889"/>
            <a:ext cx="8037790" cy="466344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685818" y="1508759"/>
            <a:ext cx="3429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220" name="Google Shape;220;p28"/>
          <p:cNvSpPr txBox="1"/>
          <p:nvPr/>
        </p:nvSpPr>
        <p:spPr>
          <a:xfrm>
            <a:off x="1111026" y="1495043"/>
            <a:ext cx="1748837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Потерянные заявки</a:t>
            </a:r>
            <a:endParaRPr sz="1100"/>
          </a:p>
        </p:txBody>
      </p:sp>
      <p:sp>
        <p:nvSpPr>
          <p:cNvPr id="221" name="Google Shape;221;p28"/>
          <p:cNvSpPr txBox="1"/>
          <p:nvPr/>
        </p:nvSpPr>
        <p:spPr>
          <a:xfrm>
            <a:off x="2894153" y="1501902"/>
            <a:ext cx="274327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Нет ответа, забытый повторный контакт</a:t>
            </a:r>
            <a:endParaRPr sz="1100"/>
          </a:p>
        </p:txBody>
      </p:sp>
      <p:sp>
        <p:nvSpPr>
          <p:cNvPr id="222" name="Google Shape;222;p28"/>
          <p:cNvSpPr txBox="1"/>
          <p:nvPr/>
        </p:nvSpPr>
        <p:spPr>
          <a:xfrm>
            <a:off x="5863746" y="1501902"/>
            <a:ext cx="2434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CRM / журнал обращений</a:t>
            </a:r>
            <a:endParaRPr sz="1100"/>
          </a:p>
        </p:txBody>
      </p:sp>
      <p:sp>
        <p:nvSpPr>
          <p:cNvPr id="223" name="Google Shape;223;p28"/>
          <p:cNvSpPr/>
          <p:nvPr/>
        </p:nvSpPr>
        <p:spPr>
          <a:xfrm>
            <a:off x="534938" y="2002536"/>
            <a:ext cx="8037790" cy="466344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685818" y="2105406"/>
            <a:ext cx="3429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00" u="none" cap="none" strike="noStrike">
                <a:solidFill>
                  <a:srgbClr val="FF657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225" name="Google Shape;225;p28"/>
          <p:cNvSpPr txBox="1"/>
          <p:nvPr/>
        </p:nvSpPr>
        <p:spPr>
          <a:xfrm>
            <a:off x="1111026" y="2091690"/>
            <a:ext cx="1748837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Низкая конверсия</a:t>
            </a:r>
            <a:endParaRPr sz="1100"/>
          </a:p>
        </p:txBody>
      </p:sp>
      <p:sp>
        <p:nvSpPr>
          <p:cNvPr id="226" name="Google Shape;226;p28"/>
          <p:cNvSpPr txBox="1"/>
          <p:nvPr/>
        </p:nvSpPr>
        <p:spPr>
          <a:xfrm>
            <a:off x="2894153" y="2098548"/>
            <a:ext cx="274327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Много лидов, мало оплаченных заказов</a:t>
            </a:r>
            <a:endParaRPr sz="1100"/>
          </a:p>
        </p:txBody>
      </p:sp>
      <p:sp>
        <p:nvSpPr>
          <p:cNvPr id="227" name="Google Shape;227;p28"/>
          <p:cNvSpPr txBox="1"/>
          <p:nvPr/>
        </p:nvSpPr>
        <p:spPr>
          <a:xfrm>
            <a:off x="5863746" y="2098548"/>
            <a:ext cx="2434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F6573"/>
                </a:solidFill>
                <a:latin typeface="Arial"/>
                <a:ea typeface="Arial"/>
                <a:cs typeface="Arial"/>
                <a:sym typeface="Arial"/>
              </a:rPr>
              <a:t>Этапы воронки продаж</a:t>
            </a:r>
            <a:endParaRPr sz="1100"/>
          </a:p>
        </p:txBody>
      </p:sp>
      <p:sp>
        <p:nvSpPr>
          <p:cNvPr id="228" name="Google Shape;228;p28"/>
          <p:cNvSpPr/>
          <p:nvPr/>
        </p:nvSpPr>
        <p:spPr>
          <a:xfrm>
            <a:off x="534938" y="2599182"/>
            <a:ext cx="8037790" cy="466344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685818" y="2702052"/>
            <a:ext cx="3429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230" name="Google Shape;230;p28"/>
          <p:cNvSpPr txBox="1"/>
          <p:nvPr/>
        </p:nvSpPr>
        <p:spPr>
          <a:xfrm>
            <a:off x="1111026" y="2688336"/>
            <a:ext cx="1748837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Ручные операции</a:t>
            </a:r>
            <a:endParaRPr sz="1100"/>
          </a:p>
        </p:txBody>
      </p:sp>
      <p:sp>
        <p:nvSpPr>
          <p:cNvPr id="231" name="Google Shape;231;p28"/>
          <p:cNvSpPr txBox="1"/>
          <p:nvPr/>
        </p:nvSpPr>
        <p:spPr>
          <a:xfrm>
            <a:off x="2894153" y="2695194"/>
            <a:ext cx="274327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Повторный ввод, отчёты, согласования</a:t>
            </a:r>
            <a:endParaRPr sz="1100"/>
          </a:p>
        </p:txBody>
      </p:sp>
      <p:sp>
        <p:nvSpPr>
          <p:cNvPr id="232" name="Google Shape;232;p28"/>
          <p:cNvSpPr txBox="1"/>
          <p:nvPr/>
        </p:nvSpPr>
        <p:spPr>
          <a:xfrm>
            <a:off x="5863746" y="2695194"/>
            <a:ext cx="2434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Хронометраж 1 недели</a:t>
            </a:r>
            <a:endParaRPr sz="1100"/>
          </a:p>
        </p:txBody>
      </p:sp>
      <p:sp>
        <p:nvSpPr>
          <p:cNvPr id="233" name="Google Shape;233;p28"/>
          <p:cNvSpPr/>
          <p:nvPr/>
        </p:nvSpPr>
        <p:spPr>
          <a:xfrm>
            <a:off x="534938" y="3195828"/>
            <a:ext cx="8037790" cy="466344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685818" y="3298698"/>
            <a:ext cx="3429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00" u="none" cap="none" strike="noStrike">
                <a:solidFill>
                  <a:srgbClr val="FFCC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235" name="Google Shape;235;p28"/>
          <p:cNvSpPr txBox="1"/>
          <p:nvPr/>
        </p:nvSpPr>
        <p:spPr>
          <a:xfrm>
            <a:off x="1111026" y="3284982"/>
            <a:ext cx="1748837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Закупки и запасы</a:t>
            </a:r>
            <a:endParaRPr sz="1100"/>
          </a:p>
        </p:txBody>
      </p:sp>
      <p:sp>
        <p:nvSpPr>
          <p:cNvPr id="236" name="Google Shape;236;p28"/>
          <p:cNvSpPr txBox="1"/>
          <p:nvPr/>
        </p:nvSpPr>
        <p:spPr>
          <a:xfrm>
            <a:off x="2894153" y="3291840"/>
            <a:ext cx="274327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Срочная доставка, остатки без движения</a:t>
            </a:r>
            <a:endParaRPr sz="1100"/>
          </a:p>
        </p:txBody>
      </p:sp>
      <p:sp>
        <p:nvSpPr>
          <p:cNvPr id="237" name="Google Shape;237;p28"/>
          <p:cNvSpPr txBox="1"/>
          <p:nvPr/>
        </p:nvSpPr>
        <p:spPr>
          <a:xfrm>
            <a:off x="5863746" y="3291840"/>
            <a:ext cx="2434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FCC66"/>
                </a:solidFill>
                <a:latin typeface="Arial"/>
                <a:ea typeface="Arial"/>
                <a:cs typeface="Arial"/>
                <a:sym typeface="Arial"/>
              </a:rPr>
              <a:t>Склад / счета / списания</a:t>
            </a:r>
            <a:endParaRPr sz="1100"/>
          </a:p>
        </p:txBody>
      </p:sp>
      <p:sp>
        <p:nvSpPr>
          <p:cNvPr id="238" name="Google Shape;238;p28"/>
          <p:cNvSpPr/>
          <p:nvPr/>
        </p:nvSpPr>
        <p:spPr>
          <a:xfrm>
            <a:off x="534938" y="3792473"/>
            <a:ext cx="8037790" cy="466344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685818" y="3895344"/>
            <a:ext cx="3429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00" u="none" cap="none" strike="noStrike">
                <a:solidFill>
                  <a:srgbClr val="8DA3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240" name="Google Shape;240;p28"/>
          <p:cNvSpPr txBox="1"/>
          <p:nvPr/>
        </p:nvSpPr>
        <p:spPr>
          <a:xfrm>
            <a:off x="1111026" y="3881627"/>
            <a:ext cx="1748837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Подписки и подрядчики</a:t>
            </a:r>
            <a:endParaRPr sz="1100"/>
          </a:p>
        </p:txBody>
      </p:sp>
      <p:sp>
        <p:nvSpPr>
          <p:cNvPr id="241" name="Google Shape;241;p28"/>
          <p:cNvSpPr txBox="1"/>
          <p:nvPr/>
        </p:nvSpPr>
        <p:spPr>
          <a:xfrm>
            <a:off x="2894153" y="3888485"/>
            <a:ext cx="274327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Дублирующие сервисы, неясный эффект</a:t>
            </a:r>
            <a:endParaRPr sz="1100"/>
          </a:p>
        </p:txBody>
      </p:sp>
      <p:sp>
        <p:nvSpPr>
          <p:cNvPr id="242" name="Google Shape;242;p28"/>
          <p:cNvSpPr txBox="1"/>
          <p:nvPr/>
        </p:nvSpPr>
        <p:spPr>
          <a:xfrm>
            <a:off x="5863746" y="3888485"/>
            <a:ext cx="243465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8DA3FF"/>
                </a:solidFill>
                <a:latin typeface="Arial"/>
                <a:ea typeface="Arial"/>
                <a:cs typeface="Arial"/>
                <a:sym typeface="Arial"/>
              </a:rPr>
              <a:t>Выписки за 3 месяца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/>
        </p:nvSpPr>
        <p:spPr>
          <a:xfrm>
            <a:off x="493789" y="288036"/>
            <a:ext cx="60352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04 / СЧИТАЕМ ЭФФЕКТ</a:t>
            </a:r>
            <a:endParaRPr sz="1100"/>
          </a:p>
        </p:txBody>
      </p:sp>
      <p:sp>
        <p:nvSpPr>
          <p:cNvPr id="248" name="Google Shape;248;p29"/>
          <p:cNvSpPr txBox="1"/>
          <p:nvPr/>
        </p:nvSpPr>
        <p:spPr>
          <a:xfrm>
            <a:off x="8229819" y="274320"/>
            <a:ext cx="411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05 / 07</a:t>
            </a:r>
            <a:endParaRPr sz="1100"/>
          </a:p>
        </p:txBody>
      </p:sp>
      <p:sp>
        <p:nvSpPr>
          <p:cNvPr id="249" name="Google Shape;249;p29"/>
          <p:cNvSpPr/>
          <p:nvPr/>
        </p:nvSpPr>
        <p:spPr>
          <a:xfrm>
            <a:off x="493789" y="562356"/>
            <a:ext cx="8147521" cy="8229"/>
          </a:xfrm>
          <a:prstGeom prst="rect">
            <a:avLst/>
          </a:prstGeom>
          <a:solidFill>
            <a:srgbClr val="373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525600" y="595838"/>
            <a:ext cx="809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Даже небольшие потери складываются в заметную сумму</a:t>
            </a:r>
            <a:endParaRPr sz="1100"/>
          </a:p>
        </p:txBody>
      </p:sp>
      <p:sp>
        <p:nvSpPr>
          <p:cNvPr id="251" name="Google Shape;251;p29"/>
          <p:cNvSpPr txBox="1"/>
          <p:nvPr/>
        </p:nvSpPr>
        <p:spPr>
          <a:xfrm>
            <a:off x="541718" y="1329125"/>
            <a:ext cx="788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Пример расчёта для компании с 3 млн ₽ выручки в месяц.</a:t>
            </a:r>
            <a:endParaRPr sz="1100"/>
          </a:p>
        </p:txBody>
      </p:sp>
      <p:sp>
        <p:nvSpPr>
          <p:cNvPr id="252" name="Google Shape;252;p29"/>
          <p:cNvSpPr/>
          <p:nvPr/>
        </p:nvSpPr>
        <p:spPr>
          <a:xfrm>
            <a:off x="493789" y="1600596"/>
            <a:ext cx="3874800" cy="270900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699535" y="1806336"/>
            <a:ext cx="3291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ПОТЕРЯННЫЕ ОБРАЩЕНИЯ</a:t>
            </a:r>
            <a:endParaRPr sz="1100"/>
          </a:p>
        </p:txBody>
      </p:sp>
      <p:sp>
        <p:nvSpPr>
          <p:cNvPr id="254" name="Google Shape;254;p29"/>
          <p:cNvSpPr txBox="1"/>
          <p:nvPr/>
        </p:nvSpPr>
        <p:spPr>
          <a:xfrm>
            <a:off x="699535" y="2149236"/>
            <a:ext cx="322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100 заявок / мес.</a:t>
            </a:r>
            <a:endParaRPr sz="1100"/>
          </a:p>
        </p:txBody>
      </p:sp>
      <p:sp>
        <p:nvSpPr>
          <p:cNvPr id="255" name="Google Shape;255;p29"/>
          <p:cNvSpPr txBox="1"/>
          <p:nvPr/>
        </p:nvSpPr>
        <p:spPr>
          <a:xfrm>
            <a:off x="699535" y="2595006"/>
            <a:ext cx="329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10% не получили своевременный ответ</a:t>
            </a:r>
            <a:endParaRPr sz="1100"/>
          </a:p>
        </p:txBody>
      </p:sp>
      <p:sp>
        <p:nvSpPr>
          <p:cNvPr id="256" name="Google Shape;256;p29"/>
          <p:cNvSpPr/>
          <p:nvPr/>
        </p:nvSpPr>
        <p:spPr>
          <a:xfrm>
            <a:off x="699535" y="2972196"/>
            <a:ext cx="3394800" cy="12300"/>
          </a:xfrm>
          <a:prstGeom prst="rect">
            <a:avLst/>
          </a:prstGeom>
          <a:solidFill>
            <a:srgbClr val="373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699535" y="3129929"/>
            <a:ext cx="144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10 заявок</a:t>
            </a:r>
            <a:endParaRPr sz="1100"/>
          </a:p>
        </p:txBody>
      </p:sp>
      <p:sp>
        <p:nvSpPr>
          <p:cNvPr id="258" name="Google Shape;258;p29"/>
          <p:cNvSpPr txBox="1"/>
          <p:nvPr/>
        </p:nvSpPr>
        <p:spPr>
          <a:xfrm>
            <a:off x="2208335" y="3129929"/>
            <a:ext cx="1851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× 20% конверсия</a:t>
            </a:r>
            <a:endParaRPr sz="1100"/>
          </a:p>
        </p:txBody>
      </p:sp>
      <p:sp>
        <p:nvSpPr>
          <p:cNvPr id="259" name="Google Shape;259;p29"/>
          <p:cNvSpPr txBox="1"/>
          <p:nvPr/>
        </p:nvSpPr>
        <p:spPr>
          <a:xfrm>
            <a:off x="699535" y="3507120"/>
            <a:ext cx="1508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2 заказа</a:t>
            </a:r>
            <a:endParaRPr sz="1100"/>
          </a:p>
        </p:txBody>
      </p:sp>
      <p:sp>
        <p:nvSpPr>
          <p:cNvPr id="260" name="Google Shape;260;p29"/>
          <p:cNvSpPr txBox="1"/>
          <p:nvPr/>
        </p:nvSpPr>
        <p:spPr>
          <a:xfrm>
            <a:off x="2208335" y="3507120"/>
            <a:ext cx="1851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× 15 000 ₽</a:t>
            </a:r>
            <a:endParaRPr sz="1100"/>
          </a:p>
        </p:txBody>
      </p:sp>
      <p:sp>
        <p:nvSpPr>
          <p:cNvPr id="261" name="Google Shape;261;p29"/>
          <p:cNvSpPr txBox="1"/>
          <p:nvPr/>
        </p:nvSpPr>
        <p:spPr>
          <a:xfrm>
            <a:off x="699535" y="3904884"/>
            <a:ext cx="336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30 000 ₽ потенциальной выручки / мес.</a:t>
            </a:r>
            <a:endParaRPr sz="1100"/>
          </a:p>
        </p:txBody>
      </p:sp>
      <p:sp>
        <p:nvSpPr>
          <p:cNvPr id="262" name="Google Shape;262;p29"/>
          <p:cNvSpPr/>
          <p:nvPr/>
        </p:nvSpPr>
        <p:spPr>
          <a:xfrm>
            <a:off x="4608699" y="1600596"/>
            <a:ext cx="3963900" cy="270900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4814444" y="1806336"/>
            <a:ext cx="336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РУЧНАЯ РУТИНА</a:t>
            </a:r>
            <a:endParaRPr sz="1100"/>
          </a:p>
        </p:txBody>
      </p:sp>
      <p:sp>
        <p:nvSpPr>
          <p:cNvPr id="264" name="Google Shape;264;p29"/>
          <p:cNvSpPr txBox="1"/>
          <p:nvPr/>
        </p:nvSpPr>
        <p:spPr>
          <a:xfrm>
            <a:off x="4814444" y="2149236"/>
            <a:ext cx="329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40 часов / мес.</a:t>
            </a:r>
            <a:endParaRPr sz="1100"/>
          </a:p>
        </p:txBody>
      </p:sp>
      <p:sp>
        <p:nvSpPr>
          <p:cNvPr id="265" name="Google Shape;265;p29"/>
          <p:cNvSpPr txBox="1"/>
          <p:nvPr/>
        </p:nvSpPr>
        <p:spPr>
          <a:xfrm>
            <a:off x="4814444" y="2595006"/>
            <a:ext cx="3360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На копирование данных и повторные отчёты</a:t>
            </a:r>
            <a:endParaRPr sz="1100"/>
          </a:p>
        </p:txBody>
      </p:sp>
      <p:sp>
        <p:nvSpPr>
          <p:cNvPr id="266" name="Google Shape;266;p29"/>
          <p:cNvSpPr/>
          <p:nvPr/>
        </p:nvSpPr>
        <p:spPr>
          <a:xfrm>
            <a:off x="4814444" y="2972196"/>
            <a:ext cx="3394800" cy="12300"/>
          </a:xfrm>
          <a:prstGeom prst="rect">
            <a:avLst/>
          </a:prstGeom>
          <a:solidFill>
            <a:srgbClr val="373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4814444" y="3129929"/>
            <a:ext cx="144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40 часов</a:t>
            </a:r>
            <a:endParaRPr sz="1100"/>
          </a:p>
        </p:txBody>
      </p:sp>
      <p:sp>
        <p:nvSpPr>
          <p:cNvPr id="268" name="Google Shape;268;p29"/>
          <p:cNvSpPr txBox="1"/>
          <p:nvPr/>
        </p:nvSpPr>
        <p:spPr>
          <a:xfrm>
            <a:off x="6254662" y="3129929"/>
            <a:ext cx="1851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× 700 ₽ / час</a:t>
            </a:r>
            <a:endParaRPr sz="1100"/>
          </a:p>
        </p:txBody>
      </p:sp>
      <p:sp>
        <p:nvSpPr>
          <p:cNvPr id="269" name="Google Shape;269;p29"/>
          <p:cNvSpPr txBox="1"/>
          <p:nvPr/>
        </p:nvSpPr>
        <p:spPr>
          <a:xfrm>
            <a:off x="4814444" y="3507120"/>
            <a:ext cx="1508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28 000 ₽</a:t>
            </a:r>
            <a:endParaRPr sz="1100"/>
          </a:p>
        </p:txBody>
      </p:sp>
      <p:sp>
        <p:nvSpPr>
          <p:cNvPr id="270" name="Google Shape;270;p29"/>
          <p:cNvSpPr txBox="1"/>
          <p:nvPr/>
        </p:nvSpPr>
        <p:spPr>
          <a:xfrm>
            <a:off x="6254662" y="3507120"/>
            <a:ext cx="1851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стоимость времени</a:t>
            </a:r>
            <a:endParaRPr sz="1100"/>
          </a:p>
        </p:txBody>
      </p:sp>
      <p:sp>
        <p:nvSpPr>
          <p:cNvPr id="271" name="Google Shape;271;p29"/>
          <p:cNvSpPr txBox="1"/>
          <p:nvPr/>
        </p:nvSpPr>
        <p:spPr>
          <a:xfrm>
            <a:off x="4814444" y="3904884"/>
            <a:ext cx="336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Потенциал высвобождения ресурса</a:t>
            </a:r>
            <a:endParaRPr sz="1100"/>
          </a:p>
        </p:txBody>
      </p:sp>
      <p:sp>
        <p:nvSpPr>
          <p:cNvPr id="272" name="Google Shape;272;p29"/>
          <p:cNvSpPr txBox="1"/>
          <p:nvPr/>
        </p:nvSpPr>
        <p:spPr>
          <a:xfrm>
            <a:off x="576087" y="4501530"/>
            <a:ext cx="781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Это не гарантированная экономия: выручка зависит от среднего чека и фактической конверсии, а стоимость времени — от возможности использовать часы продуктивно.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/>
          <p:nvPr/>
        </p:nvSpPr>
        <p:spPr>
          <a:xfrm>
            <a:off x="493789" y="288036"/>
            <a:ext cx="60352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05 / ПЛАН ДЕЙСТВИЙ</a:t>
            </a:r>
            <a:endParaRPr sz="1100"/>
          </a:p>
        </p:txBody>
      </p:sp>
      <p:sp>
        <p:nvSpPr>
          <p:cNvPr id="278" name="Google Shape;278;p30"/>
          <p:cNvSpPr txBox="1"/>
          <p:nvPr/>
        </p:nvSpPr>
        <p:spPr>
          <a:xfrm>
            <a:off x="8229819" y="274320"/>
            <a:ext cx="411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06 / 07</a:t>
            </a:r>
            <a:endParaRPr sz="1100"/>
          </a:p>
        </p:txBody>
      </p:sp>
      <p:sp>
        <p:nvSpPr>
          <p:cNvPr id="279" name="Google Shape;279;p30"/>
          <p:cNvSpPr/>
          <p:nvPr/>
        </p:nvSpPr>
        <p:spPr>
          <a:xfrm>
            <a:off x="493789" y="562356"/>
            <a:ext cx="8147521" cy="8229"/>
          </a:xfrm>
          <a:prstGeom prst="rect">
            <a:avLst/>
          </a:prstGeom>
          <a:solidFill>
            <a:srgbClr val="373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493789" y="768096"/>
            <a:ext cx="809265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Двухнедельный аудит без тяжёлых внедрений</a:t>
            </a:r>
            <a:endParaRPr sz="1100"/>
          </a:p>
        </p:txBody>
      </p:sp>
      <p:sp>
        <p:nvSpPr>
          <p:cNvPr id="281" name="Google Shape;281;p30"/>
          <p:cNvSpPr txBox="1"/>
          <p:nvPr/>
        </p:nvSpPr>
        <p:spPr>
          <a:xfrm>
            <a:off x="507506" y="1200150"/>
            <a:ext cx="78869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Цель — получить список потерь с оценкой эффекта и ответственными.</a:t>
            </a:r>
            <a:endParaRPr sz="1100"/>
          </a:p>
        </p:txBody>
      </p:sp>
      <p:sp>
        <p:nvSpPr>
          <p:cNvPr id="282" name="Google Shape;282;p30"/>
          <p:cNvSpPr/>
          <p:nvPr/>
        </p:nvSpPr>
        <p:spPr>
          <a:xfrm>
            <a:off x="534938" y="1645920"/>
            <a:ext cx="1865426" cy="188595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685818" y="1831086"/>
            <a:ext cx="342909" cy="30861"/>
          </a:xfrm>
          <a:prstGeom prst="rect">
            <a:avLst/>
          </a:prstGeom>
          <a:solidFill>
            <a:srgbClr val="FF91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685818" y="1988820"/>
            <a:ext cx="1543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ДНИ 1–2</a:t>
            </a:r>
            <a:endParaRPr sz="1100"/>
          </a:p>
        </p:txBody>
      </p:sp>
      <p:sp>
        <p:nvSpPr>
          <p:cNvPr id="285" name="Google Shape;285;p30"/>
          <p:cNvSpPr txBox="1"/>
          <p:nvPr/>
        </p:nvSpPr>
        <p:spPr>
          <a:xfrm>
            <a:off x="685818" y="2331720"/>
            <a:ext cx="154309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Собрать данные</a:t>
            </a:r>
            <a:endParaRPr sz="1100"/>
          </a:p>
        </p:txBody>
      </p:sp>
      <p:sp>
        <p:nvSpPr>
          <p:cNvPr id="286" name="Google Shape;286;p30"/>
          <p:cNvSpPr txBox="1"/>
          <p:nvPr/>
        </p:nvSpPr>
        <p:spPr>
          <a:xfrm>
            <a:off x="685818" y="2894076"/>
            <a:ext cx="154309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Выручка, расходы, заявки, причины отказов и возвратов.</a:t>
            </a:r>
            <a:endParaRPr sz="1100"/>
          </a:p>
        </p:txBody>
      </p:sp>
      <p:sp>
        <p:nvSpPr>
          <p:cNvPr id="287" name="Google Shape;287;p30"/>
          <p:cNvSpPr txBox="1"/>
          <p:nvPr/>
        </p:nvSpPr>
        <p:spPr>
          <a:xfrm>
            <a:off x="2407222" y="2379726"/>
            <a:ext cx="171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100"/>
          </a:p>
        </p:txBody>
      </p:sp>
      <p:sp>
        <p:nvSpPr>
          <p:cNvPr id="288" name="Google Shape;288;p30"/>
          <p:cNvSpPr/>
          <p:nvPr/>
        </p:nvSpPr>
        <p:spPr>
          <a:xfrm>
            <a:off x="2592393" y="1645920"/>
            <a:ext cx="1865426" cy="188595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2743273" y="1831086"/>
            <a:ext cx="342909" cy="30861"/>
          </a:xfrm>
          <a:prstGeom prst="rect">
            <a:avLst/>
          </a:prstGeom>
          <a:solidFill>
            <a:srgbClr val="42D4B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0"/>
          <p:cNvSpPr txBox="1"/>
          <p:nvPr/>
        </p:nvSpPr>
        <p:spPr>
          <a:xfrm>
            <a:off x="2743273" y="1988820"/>
            <a:ext cx="1543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ДНИ 3–5</a:t>
            </a:r>
            <a:endParaRPr sz="1100"/>
          </a:p>
        </p:txBody>
      </p:sp>
      <p:sp>
        <p:nvSpPr>
          <p:cNvPr id="291" name="Google Shape;291;p30"/>
          <p:cNvSpPr txBox="1"/>
          <p:nvPr/>
        </p:nvSpPr>
        <p:spPr>
          <a:xfrm>
            <a:off x="2743273" y="2331720"/>
            <a:ext cx="154309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Найти узкие места</a:t>
            </a:r>
            <a:endParaRPr sz="1100"/>
          </a:p>
        </p:txBody>
      </p:sp>
      <p:sp>
        <p:nvSpPr>
          <p:cNvPr id="292" name="Google Shape;292;p30"/>
          <p:cNvSpPr txBox="1"/>
          <p:nvPr/>
        </p:nvSpPr>
        <p:spPr>
          <a:xfrm>
            <a:off x="2743273" y="2894076"/>
            <a:ext cx="154309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Отметить повторы, задержки, неиспользуемые сервисы и ручные задачи.</a:t>
            </a:r>
            <a:endParaRPr sz="1100"/>
          </a:p>
        </p:txBody>
      </p:sp>
      <p:sp>
        <p:nvSpPr>
          <p:cNvPr id="293" name="Google Shape;293;p30"/>
          <p:cNvSpPr txBox="1"/>
          <p:nvPr/>
        </p:nvSpPr>
        <p:spPr>
          <a:xfrm>
            <a:off x="4464677" y="2379726"/>
            <a:ext cx="171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100"/>
          </a:p>
        </p:txBody>
      </p:sp>
      <p:sp>
        <p:nvSpPr>
          <p:cNvPr id="294" name="Google Shape;294;p30"/>
          <p:cNvSpPr/>
          <p:nvPr/>
        </p:nvSpPr>
        <p:spPr>
          <a:xfrm>
            <a:off x="4649848" y="1645920"/>
            <a:ext cx="1865426" cy="188595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4800728" y="1831086"/>
            <a:ext cx="342909" cy="30861"/>
          </a:xfrm>
          <a:prstGeom prst="rect">
            <a:avLst/>
          </a:prstGeom>
          <a:solidFill>
            <a:srgbClr val="FFCC6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4800728" y="1988820"/>
            <a:ext cx="1543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FCC66"/>
                </a:solidFill>
                <a:latin typeface="Arial"/>
                <a:ea typeface="Arial"/>
                <a:cs typeface="Arial"/>
                <a:sym typeface="Arial"/>
              </a:rPr>
              <a:t>ДНИ 6–9</a:t>
            </a:r>
            <a:endParaRPr sz="1100"/>
          </a:p>
        </p:txBody>
      </p:sp>
      <p:sp>
        <p:nvSpPr>
          <p:cNvPr id="297" name="Google Shape;297;p30"/>
          <p:cNvSpPr txBox="1"/>
          <p:nvPr/>
        </p:nvSpPr>
        <p:spPr>
          <a:xfrm>
            <a:off x="4800728" y="2331720"/>
            <a:ext cx="154309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Проверить гипотезы</a:t>
            </a:r>
            <a:endParaRPr sz="1100"/>
          </a:p>
        </p:txBody>
      </p:sp>
      <p:sp>
        <p:nvSpPr>
          <p:cNvPr id="298" name="Google Shape;298;p30"/>
          <p:cNvSpPr txBox="1"/>
          <p:nvPr/>
        </p:nvSpPr>
        <p:spPr>
          <a:xfrm>
            <a:off x="4800728" y="2894076"/>
            <a:ext cx="154309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Посчитать эффект на фактических данных; поговорить с командой.</a:t>
            </a:r>
            <a:endParaRPr sz="1100"/>
          </a:p>
        </p:txBody>
      </p:sp>
      <p:sp>
        <p:nvSpPr>
          <p:cNvPr id="299" name="Google Shape;299;p30"/>
          <p:cNvSpPr txBox="1"/>
          <p:nvPr/>
        </p:nvSpPr>
        <p:spPr>
          <a:xfrm>
            <a:off x="6522132" y="2379726"/>
            <a:ext cx="171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100"/>
          </a:p>
        </p:txBody>
      </p:sp>
      <p:sp>
        <p:nvSpPr>
          <p:cNvPr id="300" name="Google Shape;300;p30"/>
          <p:cNvSpPr/>
          <p:nvPr/>
        </p:nvSpPr>
        <p:spPr>
          <a:xfrm>
            <a:off x="6707303" y="1645920"/>
            <a:ext cx="1865426" cy="188595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0"/>
          <p:cNvSpPr/>
          <p:nvPr/>
        </p:nvSpPr>
        <p:spPr>
          <a:xfrm>
            <a:off x="6858183" y="1831086"/>
            <a:ext cx="342909" cy="30861"/>
          </a:xfrm>
          <a:prstGeom prst="rect">
            <a:avLst/>
          </a:prstGeom>
          <a:solidFill>
            <a:srgbClr val="FF657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0"/>
          <p:cNvSpPr txBox="1"/>
          <p:nvPr/>
        </p:nvSpPr>
        <p:spPr>
          <a:xfrm>
            <a:off x="6858183" y="1988820"/>
            <a:ext cx="1543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F6573"/>
                </a:solidFill>
                <a:latin typeface="Arial"/>
                <a:ea typeface="Arial"/>
                <a:cs typeface="Arial"/>
                <a:sym typeface="Arial"/>
              </a:rPr>
              <a:t>ДНИ 10–14</a:t>
            </a:r>
            <a:endParaRPr sz="1100"/>
          </a:p>
        </p:txBody>
      </p:sp>
      <p:sp>
        <p:nvSpPr>
          <p:cNvPr id="303" name="Google Shape;303;p30"/>
          <p:cNvSpPr txBox="1"/>
          <p:nvPr/>
        </p:nvSpPr>
        <p:spPr>
          <a:xfrm>
            <a:off x="6858183" y="2331720"/>
            <a:ext cx="154309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Запустить 2–3 меры</a:t>
            </a:r>
            <a:endParaRPr sz="1100"/>
          </a:p>
        </p:txBody>
      </p:sp>
      <p:sp>
        <p:nvSpPr>
          <p:cNvPr id="304" name="Google Shape;304;p30"/>
          <p:cNvSpPr txBox="1"/>
          <p:nvPr/>
        </p:nvSpPr>
        <p:spPr>
          <a:xfrm>
            <a:off x="6858183" y="2894076"/>
            <a:ext cx="15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Назначить </a:t>
            </a:r>
            <a:r>
              <a:rPr lang="ru" sz="800">
                <a:solidFill>
                  <a:srgbClr val="A0A8B4"/>
                </a:solidFill>
              </a:rPr>
              <a:t>ответственного</a:t>
            </a:r>
            <a:r>
              <a:rPr b="0" i="0" lang="ru" sz="8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, срок и метрику; сравнить результат с базой.</a:t>
            </a:r>
            <a:endParaRPr sz="1100"/>
          </a:p>
        </p:txBody>
      </p:sp>
      <p:sp>
        <p:nvSpPr>
          <p:cNvPr id="305" name="Google Shape;305;p30"/>
          <p:cNvSpPr/>
          <p:nvPr/>
        </p:nvSpPr>
        <p:spPr>
          <a:xfrm>
            <a:off x="534938" y="3826764"/>
            <a:ext cx="8058365" cy="582930"/>
          </a:xfrm>
          <a:prstGeom prst="roundRect">
            <a:avLst>
              <a:gd fmla="val 16667" name="adj"/>
            </a:avLst>
          </a:prstGeom>
          <a:solidFill>
            <a:srgbClr val="2328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0"/>
          <p:cNvSpPr txBox="1"/>
          <p:nvPr/>
        </p:nvSpPr>
        <p:spPr>
          <a:xfrm>
            <a:off x="699535" y="3998214"/>
            <a:ext cx="761258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Правило приоритета: </a:t>
            </a:r>
            <a:r>
              <a:rPr b="0" i="0" lang="ru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сначала меры с понятным эффектом, низкой стоимостью и быстрым тестом.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/>
        </p:nvSpPr>
        <p:spPr>
          <a:xfrm>
            <a:off x="493789" y="288036"/>
            <a:ext cx="60352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06 / КОНТРОЛЬ РЕЗУЛЬТАТА</a:t>
            </a:r>
            <a:endParaRPr sz="1100"/>
          </a:p>
        </p:txBody>
      </p:sp>
      <p:sp>
        <p:nvSpPr>
          <p:cNvPr id="312" name="Google Shape;312;p31"/>
          <p:cNvSpPr txBox="1"/>
          <p:nvPr/>
        </p:nvSpPr>
        <p:spPr>
          <a:xfrm>
            <a:off x="8229819" y="274320"/>
            <a:ext cx="411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07 / 07</a:t>
            </a:r>
            <a:endParaRPr sz="1100"/>
          </a:p>
        </p:txBody>
      </p:sp>
      <p:sp>
        <p:nvSpPr>
          <p:cNvPr id="313" name="Google Shape;313;p31"/>
          <p:cNvSpPr/>
          <p:nvPr/>
        </p:nvSpPr>
        <p:spPr>
          <a:xfrm>
            <a:off x="493789" y="562356"/>
            <a:ext cx="8147521" cy="8229"/>
          </a:xfrm>
          <a:prstGeom prst="rect">
            <a:avLst/>
          </a:prstGeom>
          <a:solidFill>
            <a:srgbClr val="373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493789" y="768096"/>
            <a:ext cx="809265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Считать не только расходы — считать результат</a:t>
            </a:r>
            <a:endParaRPr sz="1100"/>
          </a:p>
        </p:txBody>
      </p:sp>
      <p:sp>
        <p:nvSpPr>
          <p:cNvPr id="315" name="Google Shape;315;p31"/>
          <p:cNvSpPr txBox="1"/>
          <p:nvPr/>
        </p:nvSpPr>
        <p:spPr>
          <a:xfrm>
            <a:off x="507506" y="1200150"/>
            <a:ext cx="78869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Поставьте еженедельный контроль на 4–5 показателей.</a:t>
            </a:r>
            <a:endParaRPr sz="1100"/>
          </a:p>
        </p:txBody>
      </p:sp>
      <p:sp>
        <p:nvSpPr>
          <p:cNvPr id="316" name="Google Shape;316;p31"/>
          <p:cNvSpPr/>
          <p:nvPr/>
        </p:nvSpPr>
        <p:spPr>
          <a:xfrm>
            <a:off x="534938" y="1426464"/>
            <a:ext cx="1865426" cy="92583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1"/>
          <p:cNvSpPr txBox="1"/>
          <p:nvPr/>
        </p:nvSpPr>
        <p:spPr>
          <a:xfrm>
            <a:off x="672102" y="1591056"/>
            <a:ext cx="159109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Скорость ответа</a:t>
            </a:r>
            <a:endParaRPr sz="1100"/>
          </a:p>
        </p:txBody>
      </p:sp>
      <p:sp>
        <p:nvSpPr>
          <p:cNvPr id="318" name="Google Shape;318;p31"/>
          <p:cNvSpPr txBox="1"/>
          <p:nvPr/>
        </p:nvSpPr>
        <p:spPr>
          <a:xfrm>
            <a:off x="672102" y="1892808"/>
            <a:ext cx="159109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медиана, мин  •  ↓ лучше</a:t>
            </a:r>
            <a:endParaRPr sz="1100"/>
          </a:p>
        </p:txBody>
      </p:sp>
      <p:sp>
        <p:nvSpPr>
          <p:cNvPr id="319" name="Google Shape;319;p31"/>
          <p:cNvSpPr/>
          <p:nvPr/>
        </p:nvSpPr>
        <p:spPr>
          <a:xfrm>
            <a:off x="2592393" y="1426464"/>
            <a:ext cx="1865426" cy="92583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2729557" y="1591056"/>
            <a:ext cx="159109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Конверсия в оплату</a:t>
            </a:r>
            <a:endParaRPr sz="1100"/>
          </a:p>
        </p:txBody>
      </p:sp>
      <p:sp>
        <p:nvSpPr>
          <p:cNvPr id="321" name="Google Shape;321;p31"/>
          <p:cNvSpPr txBox="1"/>
          <p:nvPr/>
        </p:nvSpPr>
        <p:spPr>
          <a:xfrm>
            <a:off x="2729557" y="1892808"/>
            <a:ext cx="159109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% от заявок  •  ↑ лучше</a:t>
            </a:r>
            <a:endParaRPr sz="1100"/>
          </a:p>
        </p:txBody>
      </p:sp>
      <p:sp>
        <p:nvSpPr>
          <p:cNvPr id="322" name="Google Shape;322;p31"/>
          <p:cNvSpPr/>
          <p:nvPr/>
        </p:nvSpPr>
        <p:spPr>
          <a:xfrm>
            <a:off x="4649848" y="1426464"/>
            <a:ext cx="1865426" cy="92583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 txBox="1"/>
          <p:nvPr/>
        </p:nvSpPr>
        <p:spPr>
          <a:xfrm>
            <a:off x="4787012" y="1591056"/>
            <a:ext cx="159109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Часы на рутину</a:t>
            </a:r>
            <a:endParaRPr sz="1100"/>
          </a:p>
        </p:txBody>
      </p:sp>
      <p:sp>
        <p:nvSpPr>
          <p:cNvPr id="324" name="Google Shape;324;p31"/>
          <p:cNvSpPr txBox="1"/>
          <p:nvPr/>
        </p:nvSpPr>
        <p:spPr>
          <a:xfrm>
            <a:off x="4787012" y="1892808"/>
            <a:ext cx="159109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FFCC66"/>
                </a:solidFill>
                <a:latin typeface="Arial"/>
                <a:ea typeface="Arial"/>
                <a:cs typeface="Arial"/>
                <a:sym typeface="Arial"/>
              </a:rPr>
              <a:t>ч / неделю  •  ↓ лучше</a:t>
            </a:r>
            <a:endParaRPr sz="1100"/>
          </a:p>
        </p:txBody>
      </p:sp>
      <p:sp>
        <p:nvSpPr>
          <p:cNvPr id="325" name="Google Shape;325;p31"/>
          <p:cNvSpPr/>
          <p:nvPr/>
        </p:nvSpPr>
        <p:spPr>
          <a:xfrm>
            <a:off x="6707303" y="1426464"/>
            <a:ext cx="1865426" cy="92583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6844466" y="1591056"/>
            <a:ext cx="159109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Списания и переделки</a:t>
            </a:r>
            <a:endParaRPr sz="1100"/>
          </a:p>
        </p:txBody>
      </p:sp>
      <p:sp>
        <p:nvSpPr>
          <p:cNvPr id="327" name="Google Shape;327;p31"/>
          <p:cNvSpPr txBox="1"/>
          <p:nvPr/>
        </p:nvSpPr>
        <p:spPr>
          <a:xfrm>
            <a:off x="6844466" y="1892808"/>
            <a:ext cx="159109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FF6573"/>
                </a:solidFill>
                <a:latin typeface="Arial"/>
                <a:ea typeface="Arial"/>
                <a:cs typeface="Arial"/>
                <a:sym typeface="Arial"/>
              </a:rPr>
              <a:t>₽ / месяц  •  ↓ лучше</a:t>
            </a:r>
            <a:endParaRPr sz="1100"/>
          </a:p>
        </p:txBody>
      </p:sp>
      <p:sp>
        <p:nvSpPr>
          <p:cNvPr id="328" name="Google Shape;328;p31"/>
          <p:cNvSpPr/>
          <p:nvPr/>
        </p:nvSpPr>
        <p:spPr>
          <a:xfrm>
            <a:off x="534938" y="2640330"/>
            <a:ext cx="4869310" cy="1508760"/>
          </a:xfrm>
          <a:prstGeom prst="roundRect">
            <a:avLst>
              <a:gd fmla="val 16667" name="adj"/>
            </a:avLst>
          </a:prstGeom>
          <a:solidFill>
            <a:srgbClr val="2328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740684" y="2866643"/>
            <a:ext cx="44578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FF914D"/>
                </a:solidFill>
                <a:latin typeface="Arial"/>
                <a:ea typeface="Arial"/>
                <a:cs typeface="Arial"/>
                <a:sym typeface="Arial"/>
              </a:rPr>
              <a:t>ЧТО ДОЛЖНО БЫТЬ НА ВЫХОДЕ</a:t>
            </a:r>
            <a:endParaRPr sz="1100"/>
          </a:p>
        </p:txBody>
      </p:sp>
      <p:sp>
        <p:nvSpPr>
          <p:cNvPr id="330" name="Google Shape;330;p31"/>
          <p:cNvSpPr txBox="1"/>
          <p:nvPr/>
        </p:nvSpPr>
        <p:spPr>
          <a:xfrm>
            <a:off x="740684" y="3188970"/>
            <a:ext cx="4354946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Не список урезаний, а 2–3 проверенные меры,</a:t>
            </a:r>
            <a:br>
              <a:rPr b="1" i="0" lang="ru" sz="1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" sz="1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которые улучшают прибыль и не ломают процессы.</a:t>
            </a:r>
            <a:endParaRPr sz="1100"/>
          </a:p>
        </p:txBody>
      </p:sp>
      <p:sp>
        <p:nvSpPr>
          <p:cNvPr id="331" name="Google Shape;331;p31"/>
          <p:cNvSpPr/>
          <p:nvPr/>
        </p:nvSpPr>
        <p:spPr>
          <a:xfrm>
            <a:off x="5609994" y="2640330"/>
            <a:ext cx="2962735" cy="1508760"/>
          </a:xfrm>
          <a:prstGeom prst="roundRect">
            <a:avLst>
              <a:gd fmla="val 16667" name="adj"/>
            </a:avLst>
          </a:prstGeom>
          <a:solidFill>
            <a:srgbClr val="1B1F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1"/>
          <p:cNvSpPr txBox="1"/>
          <p:nvPr/>
        </p:nvSpPr>
        <p:spPr>
          <a:xfrm>
            <a:off x="5829455" y="2866643"/>
            <a:ext cx="25375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42D4BC"/>
                </a:solidFill>
                <a:latin typeface="Arial"/>
                <a:ea typeface="Arial"/>
                <a:cs typeface="Arial"/>
                <a:sym typeface="Arial"/>
              </a:rPr>
              <a:t>ПЕРВЫЙ ШАГ</a:t>
            </a:r>
            <a:endParaRPr sz="1100"/>
          </a:p>
        </p:txBody>
      </p:sp>
      <p:sp>
        <p:nvSpPr>
          <p:cNvPr id="333" name="Google Shape;333;p31"/>
          <p:cNvSpPr txBox="1"/>
          <p:nvPr/>
        </p:nvSpPr>
        <p:spPr>
          <a:xfrm>
            <a:off x="5829455" y="3188970"/>
            <a:ext cx="243465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Откройте выписку,</a:t>
            </a:r>
            <a:br>
              <a:rPr b="1" i="0" lang="ru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CRM и календарь команды.</a:t>
            </a:r>
            <a:endParaRPr sz="1100"/>
          </a:p>
        </p:txBody>
      </p:sp>
      <p:sp>
        <p:nvSpPr>
          <p:cNvPr id="334" name="Google Shape;334;p31"/>
          <p:cNvSpPr txBox="1"/>
          <p:nvPr/>
        </p:nvSpPr>
        <p:spPr>
          <a:xfrm>
            <a:off x="562371" y="4471416"/>
            <a:ext cx="7886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900" u="none" cap="none" strike="noStrike">
                <a:solidFill>
                  <a:srgbClr val="A0A8B4"/>
                </a:solidFill>
                <a:latin typeface="Arial"/>
                <a:ea typeface="Arial"/>
                <a:cs typeface="Arial"/>
                <a:sym typeface="Arial"/>
              </a:rPr>
              <a:t>Вывод: деньги часто находятся в процессах, которые можно измерить — и улучшить.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